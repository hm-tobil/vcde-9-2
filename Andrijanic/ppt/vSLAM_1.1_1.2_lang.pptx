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 — kurz stehen lassen, dann weiter.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Wenn wir durch einen Raum gehen, wissen wir automatisch, wo wir sind und wie er aussieht — allein mit den Augen. Ein Roboter bekommt nur Bilder und muss daraus zwei Dinge gleichzeitig finden: wie er sich bewegt hat und wie die Umgebung aufgebaut ist — in Echtzeit. Genau das löst visuelles SLAM.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Hauptbeispiel: eine Drohne in Gebäude oder Tunnel — kein GPS-Signal, trotzdem muss sie wissen, wo sie ist. Mit Kamera und vSLAM allein aus den Bildern. GPS geht drinnen nicht, LiDAR ist teuer und schwer; eine Kamera ist billig, leicht, ohne GPS — und liefert Position UND Karte. Auch in Staubsauger-Robotern oder beim autonomen Fahren bei GPS-Ausfall.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Fünf Phasen. 1.1 Feature Extraction: markante Punkte finden — vor allem Ecken, also Stellen, wo sich die Helligkeit in mehrere Richtungen ändert; die kann man wiedererkennen. 1.2 Visuelle Odometrie: sie verfolgen und die Bewegung schätzen. 2.1 lokales Mapping: aus 2D werden echte 3D-Punkte, weil wir sie aus mehreren Positionen sehen. 2.2 verfeinert Karte und Bewegung mit Bundle Adjustment. 3.1 und 3.2 erkennen bekannte Orte und korrigieren den Drift. Ich mache 1.1 und 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Zuerst Vorverarbeitung. Farbbild → Graustufen mit Y = 0,299·R + 0,587·G + 0,114·B; Grün zählt am meisten, weil unser Auge dafür am empfindlichsten ist. Warum grau? Für Ecken zählt nur die Helligkeit — ein Kanal statt drei. Dann glättet der Gauß-Filter das Rauschen; rechts wird der Ausreißer 250 abgeschwächt. So findet FAST keine zufälligen Ecken. Gauß-Filter siehe Vorlesung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prüft für jeden Pixel p einen Kreis aus 16 Nachbarn. Heller, wenn über p plus Schwelle t; dunkler, wenn unter p minus t; sonst ähnlich. Die Schwelle verhindert, dass Rauschen zählt. Ecke, wenn mindestens 9 zusammenhängende heller oder dunkler sind. Links: 10 zusammenhängend heller → Ecke. Rechts: verstreut, längster Bogen 5 → keine Ecke.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Dieselbe Ecke sieht je nach Entfernung anders aus; ist das Objekt zu groß, ist die Ecke verschmiert und der FAST-Kreis zu klein. Lösung: die Bildpyramide. Hier dieselbe Stelle — auf Stufe 0 keine Ecke (Bogen 5), auf der kleineren Stufe 6 erkannt (Bogen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machen 8 Stufen, jede um Faktor 1,2 kleiner. Eine Ecke auf einer kleinen Stufe rechnen wir zurück: Position im Original = Position auf Stufe k mal 1,2 hoch k. Beispiel: Stufe 6, (120,80); 1,2 hoch 6 ist 2,99 → Original (358,239).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misst Harris eine Ecke? Über die Gradienten — Iₓ ist die Änderung in x, I_y in y; an der Kante 200→50 ergibt das −75. Drei Summen über das Fenster: Sₓₓ = Summe Iₓ², S_yy = Summe I_y², Sₓy = Summe Iₓ·I_y. Diese bilden die Matrix M. Sind beide Diagonalwerte groß, ändert sich die Helligkeit in beiden Richtungen — eine Ecke.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M die Harris-Response: R = det(M) − k mal Spur(M) zum Quadrat, k etwa 0,04. Merke nur das Ergebnis: R groß und positiv → starke Ecke; R klein oder negativ → nur Kante; R nahe null → flache Region. Je größer R, desto stärker die Ecke — wir behalten nur große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liefert zu viele Ecken, die an Kanten clustern — hier 275. Der Quadtree legt ein Gitter darüber und behält pro Zelle die nach Harris stärkste Ecke. So sind sie gleichmäßig verteilt und stark. Reihenfolge: FAST findet, Harris bewertet, Quadtree wählt verteilt 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Zusammengefasst ist 1.1 ein Trichter: aus etwa 787 FAST-Ecken werden durch den Quadtree 73, und Harris behält die Top 40. Die Menge sinkt, die Qualität steigt.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1.2. Jede Ecke bekommt eine Orientierung θ über einen 31×31-Patch — die Richtung zum Helligkeits-Schwerpunkt. Über die Momente: m₁₀ = Summe x·I, m₀₁ = Summe y·I; im Beispiel m₁₀ = +160, m₀₁ = +80, also θ = atan2(80,160) ≈ 27 Grad, Pfeil zum Hellen. So bekommt dieselbe Ecke immer dasselbe θ — rotationsinvariant.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binäre Deskriptor — ein Fingerabdruck aus Nullen und Einsen. Feste Pixelpaare im Patch, hier 10, in echt 256. Für jedes Paar: ist A heller als B, eine 1, sonst 0. So entsteht ein Bit-String.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Damit es auch bei gedrehter Kamera klappt, drehen wir die Paare. Links ohne Rotation, rechts dieselben Paare um θ gedreht — das hervorgehobene Paar zeigt die Drehung. So liest dieselbe Ecke dieselben Stellen ab und ergibt denselben Bit-String. Das nennt man steered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dieselbe Ecke in zwei Bildern wiederzufinden, vergleichen wir die 256-Bit-Deskriptoren über die Hamming-Distanz — wie viele Bits sich unterscheiden, per XOR. Gleiche Ecke: wenige, hier 8 von 256. Andere Ecke: viele, hier 107. Wenig Unterschiede heißt: dieselbe Ecke.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ähnliche Stellen wie gleiche Fenster passen mehrfach. Lowe-Ratio-Test: die zwei besten Treffer; ist der beste deutlich besser — geteilt durch den zweitbesten unter 0,75 — behalten, sonst verwerfen. 12 zu 80 ist 0,15, behalten; 40 zu 45 ist 0,89, verwerfen. Übrig bleiben die grünen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den Punktpaaren die Kamerabewegung. Für jedes Paar gilt x'ᵀ·E·x = 0 — die Epipolar-Bedingung, ob ein Paar zur Bewegung passt. E ist die Essential-Matrix, E = [t]ₓ·R, sie versteckt Rotation und Translation in einer 3×3-Matrix. findEssentialMat mit RANSAC berechnet E aus mindestens fünf Paaren und markiert Ausreißer. recoverPose zerlegt E per SVD in R und t: R die Drehung, t nur die Richtung — die echte Strecke bleibt bei Mono unbekannt.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Einfaches Zahlenbeispiel bei reiner Seitwärtsbewegung: die Bedingung verlangt, dass y in beiden Frames gleich bleibt. x=(3,2,1) und x'=(1,2,1) → x'ᵀEx = 0, ein Inlier. Wäre x'=(1,5,1) → minus 3, ein Outlier, den RANSAC verwirft. Rechts das echte Ergebnis: grün Inlier, rot Outlier, Translation vorwärts, Rotation fast nur Gieren.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Schritt 11 gibt nur die Bewegung zwischen zwei Frames. Trajektorie = Aufsummieren. Start bei Position null, Orientierung Identität. Für jedes Paar: neue Position = alte + R_global·t — das lokale vorne wird über R_global in die Weltrichtung gedreht; dann R_global = R_global·R. Am Ende: die Liste aller Positionen. Im Beispiel ist t immer (1,0), aber R_global dreht den Weltschritt: (1,0), (0,1), (−1,0) — der Pfad dreht sich.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 Problem bleibt: kleine Fehler summieren sich, die Trajektorie driftet, und die Punkte sind nur 2D. Wie man daraus eine 3D-Karte baut und den Drift korrigiert, zeigen jetzt meine Kollegen. Danke!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oodle.hm.edu/course/section.php?id=242096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VISUELLES SLAM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Bildern zur Kamerabewegung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bin ich — und wie sieht es aus?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Menschen wissen beim Gehen automatisch, wo sie sind und wie der Raum aussieht — allein mit den Augen.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Roboter bekommt nur Bilder. Daraus muss er zwei Dinge gleichzeitig finden: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wie er sich bewegt hat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wie die Umgebung aufgebaut ist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genau das löst visuelles SLAM — in Echtzeit.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41732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029200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aus dem Netz einfügen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Drohne im Tunnel / selbstfahrendes Auto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USE-CASES &amp; MOTIVATION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ohne GPS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2F6F8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594360" y="141732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aus dem Netz einfügen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Drohne im Tunnel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Drohne in Gebäuden &amp; Tunneln: kein GPS — Position allein aus dem Bildstrom (Kamera + vSLAM).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05156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Innen/Tunnel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kein 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(Laser)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hoch, schwer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Kamera + vSLAM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gering, leicht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931920" y="3657600"/>
            <a:ext cx="4846320" cy="868680"/>
          </a:xfrm>
          <a:prstGeom prst="roundRect">
            <a:avLst>
              <a:gd name="adj" fmla="val 7368"/>
            </a:avLst>
          </a:prstGeom>
          <a:solidFill>
            <a:srgbClr val="0B3B5A"/>
          </a:solidFill>
          <a:ln/>
        </p:spPr>
      </p:sp>
      <p:sp>
        <p:nvSpPr>
          <p:cNvPr id="10" name="Text 6"/>
          <p:cNvSpPr/>
          <p:nvPr/>
        </p:nvSpPr>
        <p:spPr>
          <a:xfrm>
            <a:off x="406908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Kamera: </a:t>
            </a:r>
            <a:pPr indent="0" marL="0">
              <a:buNone/>
            </a:pPr>
            <a:r>
              <a:rPr lang="en-US" sz="1250" dirty="0">
                <a:solidFill>
                  <a:srgbClr val="EA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billig, leicht, ohne GPS — liefert Position UND Karte zugleich.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Anwendungen: smarte Staubsauger-Roboter · autonome Autos (bei GPS-Ausfall)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vSLAM-Workflow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035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8859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8976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8976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91719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Odometrie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7543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7660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7660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30403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6227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66344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69087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Optimierung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4911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05028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5028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07771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3595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43712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3712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46455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Optimierung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Graustufen &amp; Gauß-Filter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Farbbild → Graustufen:  Y = 0,299·R + 0,587·G + 0,114·B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grau? Für Ecken zählt nur die Helligkeit → 1 Kanal statt 3 = schneller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Gauß-Filter glättet Rauschen (Mittelung) → keine zufälligen Pixel-Ecken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0" y="1725047"/>
            <a:ext cx="4800600" cy="2493507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gauss_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16487"/>
            <a:ext cx="4617720" cy="23106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Gauß-Filter: siehe </a:t>
            </a:r>
            <a:pPr indent="0" marL="0">
              <a:buNone/>
            </a:pPr>
            <a:r>
              <a:rPr lang="en-US" sz="1150" i="1" u="sng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Vorlesung 2 (Punktoperationen, Lineare Filter)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FAST-Detektor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jeden Pixel p: 16 Nachbarn auf einem Kreis (Radius 3).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Ringpixel heller (&gt;p+t) / dunkler (&lt;p−t) / ähnlich. t = Schwelle gegen Rauschen.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Ecke, wenn ≥ 9 zusammenhängende heller (oder dunkler).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369485" y="2423160"/>
            <a:ext cx="440503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fast_zw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0925" y="2514600"/>
            <a:ext cx="422215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Bildpyramide — warum kleiner besser sein kann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Stelle: auf Stufe 0 keine Ecke (Bogen 5), auf der kleineren Stufe 6 erkannt (Bogen 13).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365053" y="1920240"/>
            <a:ext cx="4413894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pyr_verglei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6493" y="2011680"/>
            <a:ext cx="4231014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Bildpyramide — Rückrechnung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auf einer kleinen Stufe gefundene Ecke wird auf das Originalbild zurückgerechnet: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463040" y="201168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0B3B5A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01168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Position_original  =  Position_Stufe k  ×  1,2 ^ k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463040" y="3154680"/>
            <a:ext cx="6217920" cy="146304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37360" y="3291840"/>
            <a:ext cx="5669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 auf Stufe 6 bei (120, 80)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1,2⁶ = 2,99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Original = (120·2,99 , 80·2,99) = (358, 239)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Harris-Score — Gradient → Matrix 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533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[[ Σ Iₓ² , Σ Iₓ·I_y ] , [ Σ Iₓ·I_y , Σ I_y² ]]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55342" y="1737360"/>
            <a:ext cx="5433317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harris_gradient_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6782" y="1828800"/>
            <a:ext cx="5250437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Harris-Score — Response 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0B3B5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det(M) − k·(spur M)²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k ≈ 0,04     ( det(M)=Sₓₓ·S_yy − Sₓy²,  spur(M)=Sₓₓ+S_yy 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977890" y="2377440"/>
            <a:ext cx="5188221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mnt/user-data/outputs/harris_3fae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330" y="2468880"/>
            <a:ext cx="5005341" cy="1691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Je größer R, desto stärker die Ecke. Wir behalten nur Stellen mit großem 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Quadtree — gleichmäßige Verteilung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liefert zu viele Ecken, die an Kanten clustern (275).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Quadtree: Gitter, pro Zelle die nach Harris stärkste Ecke.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gleichmäßig verteilt und stark (~40–50).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452320"/>
            <a:ext cx="8046720" cy="2319120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quadtree_verglei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43760"/>
            <a:ext cx="7863840" cy="213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Typisch: FAST t ≈ 20 · 8 Pyramidenstufen · ~500–1000 Features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Zusammenfassung — vom Bild zu wenigen Ecken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Graustufen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712976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86712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86712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14144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Gauß-Filter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096768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70504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70504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97936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FAST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480560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54296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54296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81728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Bildpyramide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864352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38088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38088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3EE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65520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Quadtree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248144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421880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21880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3EE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49312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Harris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29260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~787  </a:t>
            </a:r>
            <a:pPr algn="ctr" indent="0" marL="0">
              <a:buNone/>
            </a:pPr>
            <a:r>
              <a:rPr lang="en-US" sz="1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ctr"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Quadtree 73  </a:t>
            </a:r>
            <a:pPr algn="ctr" indent="0" marL="0">
              <a:buNone/>
            </a:pPr>
            <a:r>
              <a:rPr lang="en-US" sz="1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ctr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 Top 40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Schritt filtert: die Menge sinkt, die Qualität steigt.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Orientierung θ — das Feature wird drehbar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31×31 (Radius 15). θ = Richtung zum Helligkeits-Schwerpunkt.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Macht das Feature rotationsinvariant (gleiche Ecke → gleiches θ).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800728" y="2194560"/>
            <a:ext cx="5542544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orient_rechn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168" y="2286000"/>
            <a:ext cx="5359664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Binärer Deskriptor — der Fingerabdruck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feste Pixelpaare. Regel: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I(A) &gt; I(B) → 1</a:t>
            </a:r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sonst 0.  (hier 10 Paare)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48300" y="1828800"/>
            <a:ext cx="5247401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deskriptor_prinz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740" y="1920240"/>
            <a:ext cx="506452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Deskriptor wird mit θ gedreht (steered BRIEF)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die Paare ohne Rotation, rechts dieselben Paare um θ gedreht (1 Paar hervorgehoben) → dieselbe Ecke ergibt denselben Bit-String.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054361" y="1920240"/>
            <a:ext cx="5035278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deskriptor_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801" y="2011680"/>
            <a:ext cx="485239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Matching — dieselbe Ecke wiederfinden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Verglichen werden die 256-Bit-Deskriptoren, nicht die Pixel.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 = Hamming-Distanz: Anzahl unterschiedlicher Bits (XOR).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 Unterschiede → gleiche Ecke.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844135" y="1280160"/>
            <a:ext cx="4976171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hamming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5575" y="1371600"/>
            <a:ext cx="4793291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 Ratio-Test — nur eindeutige Treffer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336465"/>
            <a:ext cx="8321040" cy="2401990"/>
          </a:xfrm>
          <a:prstGeom prst="roundRect">
            <a:avLst>
              <a:gd name="adj" fmla="val 1903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user-data/outputs/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27905"/>
            <a:ext cx="8138160" cy="221911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93192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39319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Ratio-Test:  </a:t>
            </a:r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d(best)/d(2.) &lt; 0,75 → behalten.   </a:t>
            </a:r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12/80=0,15 behalten · 40/45=0,89 verwerfen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Pose-Schätzung — Pipeline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Eingang: ≥ 5 (meist 8) Punktpaare (x, x') aus Schritt 10.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findEssentialMat + RANSAC → E  (+ Inlier/Outlier).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recoverPose (SVD) → R und 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Drehung (SO(3)).  t = Richtung (‖t‖=1, Skala unbekannt).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12080" y="1463040"/>
            <a:ext cx="3566160" cy="3063240"/>
          </a:xfrm>
          <a:prstGeom prst="roundRect">
            <a:avLst>
              <a:gd name="adj" fmla="val 2388"/>
            </a:avLst>
          </a:prstGeom>
          <a:solidFill>
            <a:srgbClr val="0B3B5A"/>
          </a:solidFill>
          <a:ln/>
        </p:spPr>
      </p:sp>
      <p:sp>
        <p:nvSpPr>
          <p:cNvPr id="7" name="Text 4"/>
          <p:cNvSpPr/>
          <p:nvPr/>
        </p:nvSpPr>
        <p:spPr>
          <a:xfrm>
            <a:off x="5440680" y="16916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x'ᵀ · E · x = 0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(Epipolar-Bedingung)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[t]ₓ · R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versteckt R und 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→(SVD)→ R, t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 — Inlier / Outlier prüfen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72768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Seitwärts-Bewegung:  E = [[0,0,0],[0,0,−1],[0,1,0]]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(3, 2, 1)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Inlier:  x' = (1, 2, 1)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x'ᵀ·E·x = 0  ✓  (y gleich)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Outlier:  x' = (1, 5, 1)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x'ᵀ·E·x = −3  ✗  → RANSAC verwirft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70092" y="1325880"/>
            <a:ext cx="4318616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mnt/user-data/outputs/pose_beispiel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1532" y="1417320"/>
            <a:ext cx="413573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Trajektorie — Schritt für Schritt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P₀ = (0,0,0),  R_global = 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(jedes Paar):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P_{i+1} = P_i + R_global·t_i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R_global = R_global·R_i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Ausgabe: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aller P_i = Trajektorie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P=Position · t=lokaler Schritt · R=Drehung (Schritt 11) · R_global=Gesamt-Orientierung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206240" y="1807495"/>
            <a:ext cx="4709160" cy="251149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trajektorie_beispi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898935"/>
            <a:ext cx="4526280" cy="23286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Drift — und wie es weitergeht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Schätzung hat einen kleinen Fehler — über viele Frames summieren sie sich: die Trajektorie driftet. Und die Punkte sind bisher nur 2D.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Lokales Mapping (2D→3D) · 2.2 Bundle Adjustment · 3.1 Loop Closure · 3.2 Globale Optimierung.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 die Aufmerksamkeit!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Visuelles SLAM</dc:title>
  <dc:subject>PptxGenJS Presentation</dc:subject>
  <dc:creator>PptxGenJS</dc:creator>
  <cp:lastModifiedBy>PptxGenJS</cp:lastModifiedBy>
  <cp:revision>1</cp:revision>
  <dcterms:created xsi:type="dcterms:W3CDTF">2026-06-16T12:02:12Z</dcterms:created>
  <dcterms:modified xsi:type="dcterms:W3CDTF">2026-06-16T12:02:12Z</dcterms:modified>
</cp:coreProperties>
</file>