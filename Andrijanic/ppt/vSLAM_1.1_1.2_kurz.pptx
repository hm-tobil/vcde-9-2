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Titel — kurz stehen 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Menschen wissen beim Gehen automatisch, wo sie sind und wie der Raum aussieht. Ein Roboter bekommt nur Bilder und muss zwei Dinge gleichzeitig finden: wie er sich bewegt und wie die Umgebung aussieht — in Echtzeit. Das löst visuelles SLAM.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Beispiel: Drohne im Tunnel — kein GPS. Mit Kamera und vSLAM bestimmt sie ihre Position allein aus den Bildern. Kamera ist billig, leicht, ohne GPS — und liefert Position UND Karte. Auch in Staubsauger-Robotern und beim autonomen Fahren.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Fünf Phasen: 1.1 markante Punkte, vor allem Ecken, finden; 1.2 sie verfolgen und die Bewegung schätzen. 2.1 baut eine 3D-Karte, 2.2 verfeinert sie, 3.1 und 3.2 erkennen bekannte Orte und korrigieren den Drift. Ich mache 1.1 und 1.2.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Farbbild → Graustufen mit Y = 0,299·R + 0,587·G + 0,114·B; für Ecken zählt nur die Helligkeit, ein Kanal statt drei. Der Gauß-Filter glättet das Rauschen, damit FAST keine zufälligen Ecken findet.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 prüft für jeden Pixel einen Kreis aus 16 Nachbarn: heller über p plus t, dunkler unter p minus t. Die Schwelle t hält Rauschen draußen. Ecke, wenn mindestens 9 zusammenhängend heller oder dunkler. Links 10 zusammenhängend → Ecke; rechts verstreut → keine Ecke.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Dieselbe Ecke sieht je nach Entfernung anders aus. Mit der Bildpyramide verkleinern wir das Bild: auf Stufe 0 keine Ecke, auf der kleineren Stufe 6 wird sie erkannt.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Stufen, Faktor 1,2. Eine Ecke auf einer kleinen Stufe wird zurückgerechnet: Original = Position mal 1,2 hoch k. Z.B. Stufe 6 → mal 2,99.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Harris nutzt die Gradienten in x und y. Drei Summen bilden die Matrix M. Sind beide Diagonalwerte groß, ändert sich die Helligkeit in beiden Richtungen — das ist eine Ecke.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 = det(M) − k mal Spur² . R groß positiv → starke Ecke; klein oder negativ → nur Kante; nahe null → flach. Je größer R, desto stärker — wir behalten nur große 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 liefert zu viele Ecken, die an Kanten clustern — 275. Der Quadtree behält pro Zelle die nach Harris stärkste Ecke → gleichmäßig verteilt und stark.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1.1 ist ein Trichter: aus ~787 FAST-Ecken werden 73 durch den Quadtree, Harris behält die Top 40. Menge sinkt, Qualität steigt.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Jetzt 1.2. Jede Ecke bekommt eine Orientierung θ über einen 31×31-Patch — die Richtung zum Helligkeits-Schwerpunkt. Dadurch wird das Feature rotationsinvariant.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binäre Deskriptor: feste Pixelpaare, hier 10, in echt 256. Pro Paar: ist A heller als B, eine 1, sonst 0. So entsteht ein Bit-String.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Damit es bei gedrehter Kamera klappt, drehen wir die Paare um θ — links ohne, rechts mit Rotation. So ergibt dieselbe Ecke denselben Bit-String (steered BRIEF).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Wiederfinden über die Hamming-Distanz: wie viele Bits sich unterscheiden. Gleiche Ecke wenige (8 von 256), andere viele (107). Wenig Unterschiede = dieselbe Ecke.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Ähnliche Stellen passen mehrfach. Lowe-Ratio-Test: bester geteilt durch zweitbesten unter 0,75 → behalten, sonst verwerfen. Übrig bleiben die grünen Matches.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Aus den Paaren die Bewegung. Es gilt x'ᵀ·E·x = 0. E = [t]ₓ·R versteckt Rotation und Translation. findEssentialMat mit RANSAC berechnet E, recoverPose zerlegt es per SVD in R und t — t nur Richtung, Skala bei Mono unbekannt.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Epipolar-Bedingung prüft, ob ein Paar zur Bewegung passt: ist x'ᵀEx ungefähr null, ein Inlier, sonst ein Outlier, den RANSAC verwirft. Rechts: grün Inlier, rot Outlier, Translation vorwärts, Rotation fast nur Gieren.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Trajektorie = Aufsummieren. Start bei null, Orientierung Identität. Für jedes Paar: neue Position = alte + R_global·t (lokales vorne in die Weltrichtung gedreht), dann R_global = R_global·R. So entsteht der Pfad — t bleibt (1,0), aber R_global dreht ihn.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Kleine Fehler summieren sich, die Trajektorie driftet, und die Punkte sind nur 2D. Wie man daraus eine 3D-Karte baut und den Drift korrigiert, zeigen jetzt meine Kollegen. Danke!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moodle.hm.edu/course/section.php?id=242096" TargetMode="Externa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1828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VISUELLES SLAM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640080" y="22402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Von Bildern zur Kamerabewegung</a:t>
            </a: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 bin ich — und wie sieht es aus?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417320"/>
            <a:ext cx="4114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Menschen wissen beim Gehen automatisch, wo sie sind und wie der Raum aussieht — allein mit den Augen.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Roboter bekommt nur Bilder. Daraus muss er zwei Dinge gleichzeitig finden: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306324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wie er sich bewegt hat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wie die Umgebung aufgebaut ist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2920" y="3977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genau das löst visuelles SLAM — in Echtzeit.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937760" y="1417320"/>
            <a:ext cx="3840480" cy="3017520"/>
          </a:xfrm>
          <a:prstGeom prst="roundRect">
            <a:avLst>
              <a:gd name="adj" fmla="val 1818"/>
            </a:avLst>
          </a:prstGeom>
          <a:solidFill>
            <a:srgbClr val="F2F6F8"/>
          </a:solidFill>
          <a:ln w="19050">
            <a:solidFill>
              <a:srgbClr val="1C7293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5029200" y="141732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 aus dem Netz einfügen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z.B. Drohne im Tunnel / selbstfahrendes Auto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USE-CASES &amp; MOTIVATION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Navigation ohne GPS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417320"/>
            <a:ext cx="3200400" cy="2103120"/>
          </a:xfrm>
          <a:prstGeom prst="roundRect">
            <a:avLst>
              <a:gd name="adj" fmla="val 2609"/>
            </a:avLst>
          </a:prstGeom>
          <a:solidFill>
            <a:srgbClr val="F2F6F8"/>
          </a:solidFill>
          <a:ln w="19050">
            <a:solidFill>
              <a:srgbClr val="1C7293"/>
            </a:solidFill>
            <a:prstDash val="dash"/>
          </a:ln>
        </p:spPr>
      </p:sp>
      <p:sp>
        <p:nvSpPr>
          <p:cNvPr id="6" name="Text 3"/>
          <p:cNvSpPr/>
          <p:nvPr/>
        </p:nvSpPr>
        <p:spPr>
          <a:xfrm>
            <a:off x="594360" y="1417320"/>
            <a:ext cx="3017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 aus dem Netz einfügen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z.B. Drohne im Tunnel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36118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Drohne in Gebäuden &amp; Tunneln: kein GPS — Position allein aus dem Bildstrom (Kamera + vSLAM).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1417320"/>
          <a:ext cx="48463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43000"/>
                <a:gridCol w="1051560"/>
                <a:gridCol w="640080"/>
                <a:gridCol w="6400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Innen/Tunnel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Kosten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kein Signal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LiDAR (Laser)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hoch, schwer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729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Kamera + vSLAM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gering, leicht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3931920" y="3657600"/>
            <a:ext cx="4846320" cy="868680"/>
          </a:xfrm>
          <a:prstGeom prst="roundRect">
            <a:avLst>
              <a:gd name="adj" fmla="val 7368"/>
            </a:avLst>
          </a:prstGeom>
          <a:solidFill>
            <a:srgbClr val="0B3B5A"/>
          </a:solidFill>
          <a:ln/>
        </p:spPr>
      </p:sp>
      <p:sp>
        <p:nvSpPr>
          <p:cNvPr id="10" name="Text 6"/>
          <p:cNvSpPr/>
          <p:nvPr/>
        </p:nvSpPr>
        <p:spPr>
          <a:xfrm>
            <a:off x="4069080" y="36576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Kamera: </a:t>
            </a:r>
            <a:pPr indent="0" marL="0">
              <a:buNone/>
            </a:pPr>
            <a:r>
              <a:rPr lang="en-US" sz="1250" dirty="0">
                <a:solidFill>
                  <a:srgbClr val="EA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billig, leicht, ohne GPS — liefert Position UND Karte zugleich.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0292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Weitere Anwendungen: smarte Staubsauger-Roboter · autonome Autos (bei GPS-Ausfall)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ÜBERBLICK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vSLAM-Workflow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920240"/>
            <a:ext cx="1203960" cy="1691640"/>
          </a:xfrm>
          <a:prstGeom prst="roundRect">
            <a:avLst>
              <a:gd name="adj" fmla="val 7595"/>
            </a:avLst>
          </a:prstGeom>
          <a:solidFill>
            <a:srgbClr val="F2F6F8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2920" y="2103120"/>
            <a:ext cx="120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B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30352" y="2633472"/>
            <a:ext cx="1149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688592" y="25374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8"/>
                </a:solidFill>
              </a:rPr>
              <a:t>›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1889760" y="1920240"/>
            <a:ext cx="1203960" cy="1691640"/>
          </a:xfrm>
          <a:prstGeom prst="roundRect">
            <a:avLst>
              <a:gd name="adj" fmla="val 7595"/>
            </a:avLst>
          </a:prstGeom>
          <a:solidFill>
            <a:srgbClr val="F2F6F8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89760" y="2103120"/>
            <a:ext cx="120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B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917192" y="2633472"/>
            <a:ext cx="1149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Visuelle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Odometrie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075432" y="25374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8"/>
                </a:solidFill>
              </a:rPr>
              <a:t>›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3276600" y="1920240"/>
            <a:ext cx="1203960" cy="1691640"/>
          </a:xfrm>
          <a:prstGeom prst="roundRect">
            <a:avLst>
              <a:gd name="adj" fmla="val 7595"/>
            </a:avLst>
          </a:prstGeom>
          <a:solidFill>
            <a:srgbClr val="F2F6F8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276600" y="2103120"/>
            <a:ext cx="120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B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3304032" y="2633472"/>
            <a:ext cx="1149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462272" y="25374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8"/>
                </a:solidFill>
              </a:rPr>
              <a:t>›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4663440" y="1920240"/>
            <a:ext cx="1203960" cy="1691640"/>
          </a:xfrm>
          <a:prstGeom prst="roundRect">
            <a:avLst>
              <a:gd name="adj" fmla="val 7595"/>
            </a:avLst>
          </a:prstGeom>
          <a:solidFill>
            <a:srgbClr val="F2F6F8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663440" y="2103120"/>
            <a:ext cx="120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B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4690872" y="2633472"/>
            <a:ext cx="1149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Optimierung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849112" y="25374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8"/>
                </a:solidFill>
              </a:rPr>
              <a:t>›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6050280" y="1920240"/>
            <a:ext cx="1203960" cy="1691640"/>
          </a:xfrm>
          <a:prstGeom prst="roundRect">
            <a:avLst>
              <a:gd name="adj" fmla="val 7595"/>
            </a:avLst>
          </a:prstGeom>
          <a:solidFill>
            <a:srgbClr val="F2F6F8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050280" y="2103120"/>
            <a:ext cx="120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B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6077712" y="2633472"/>
            <a:ext cx="1149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Closure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235952" y="25374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8"/>
                </a:solidFill>
              </a:rPr>
              <a:t>›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7437120" y="1920240"/>
            <a:ext cx="1203960" cy="1691640"/>
          </a:xfrm>
          <a:prstGeom prst="roundRect">
            <a:avLst>
              <a:gd name="adj" fmla="val 7595"/>
            </a:avLst>
          </a:prstGeom>
          <a:solidFill>
            <a:srgbClr val="F2F6F8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7437120" y="2103120"/>
            <a:ext cx="120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B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7464552" y="2633472"/>
            <a:ext cx="1149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Optimierung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FEATURE EXTRACTION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Graustufen &amp; Gauß-Filter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41732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Farbbild → Graustufen:  Y = 0,299·R + 0,587·G + 0,114·B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grau? Für Ecken zählt nur die Helligkeit → 1 Kanal statt 3 = schneller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Gauß-Filter glättet Rauschen (Mittelung) → keine zufälligen Pixel-Ecken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114800" y="1725047"/>
            <a:ext cx="4800600" cy="2493507"/>
          </a:xfrm>
          <a:prstGeom prst="roundRect">
            <a:avLst>
              <a:gd name="adj" fmla="val 1834"/>
            </a:avLst>
          </a:prstGeom>
          <a:solidFill>
            <a:srgbClr val="FFFFFF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mnt/user-data/outputs/gauss_v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816487"/>
            <a:ext cx="4617720" cy="231062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Gauß-Filter: siehe </a:t>
            </a:r>
            <a:pPr indent="0" marL="0">
              <a:buNone/>
            </a:pPr>
            <a:r>
              <a:rPr lang="en-US" sz="1150" i="1" u="sng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Vorlesung 2 (Punktoperationen, Lineare Filter)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FEATURE EXTRACTION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FAST-Detektor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37160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Für jeden Pixel p: 16 Nachbarn auf einem Kreis (Radius 3).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Ringpixel heller (&gt;p+t) / dunkler (&lt;p−t) / ähnlich. t = Schwelle gegen Rauschen.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Ecke, wenn ≥ 9 zusammenhängende heller (oder dunkler).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2369485" y="2423160"/>
            <a:ext cx="4405030" cy="25146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mnt/user-data/outputs/fast_zwe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0925" y="2514600"/>
            <a:ext cx="422215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FEATURE EXTRACTION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Bildpyramide — warum kleiner besser sein kann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3716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Dieselbe Stelle: auf Stufe 0 keine Ecke (Bogen 5), auf der kleineren Stufe 6 erkannt (Bogen 13).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365053" y="1920240"/>
            <a:ext cx="4413894" cy="301752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mnt/user-data/outputs/pyr_verglei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6493" y="2011680"/>
            <a:ext cx="4231014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FEATURE EXTRACTION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Bildpyramide — Rückrechnung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4173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auf einer kleinen Stufe gefundene Ecke wird auf das Originalbild zurückgerechnet: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463040" y="2011680"/>
            <a:ext cx="6217920" cy="868680"/>
          </a:xfrm>
          <a:prstGeom prst="roundRect">
            <a:avLst>
              <a:gd name="adj" fmla="val 8421"/>
            </a:avLst>
          </a:prstGeom>
          <a:solidFill>
            <a:srgbClr val="0B3B5A"/>
          </a:solidFill>
          <a:ln/>
        </p:spPr>
      </p:sp>
      <p:sp>
        <p:nvSpPr>
          <p:cNvPr id="7" name="Text 4"/>
          <p:cNvSpPr/>
          <p:nvPr/>
        </p:nvSpPr>
        <p:spPr>
          <a:xfrm>
            <a:off x="1463040" y="2011680"/>
            <a:ext cx="6217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Position_original  =  Position_Stufe k  ×  1,2 ^ k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463040" y="3154680"/>
            <a:ext cx="6217920" cy="1463040"/>
          </a:xfrm>
          <a:prstGeom prst="roundRect">
            <a:avLst>
              <a:gd name="adj" fmla="val 5000"/>
            </a:avLst>
          </a:prstGeom>
          <a:solidFill>
            <a:srgbClr val="F2F6F8"/>
          </a:solidFill>
          <a:ln w="12700">
            <a:solidFill>
              <a:srgbClr val="DDE6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737360" y="3291840"/>
            <a:ext cx="56692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Beispiel: 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Ecke auf Stufe 6 bei (120, 80)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1,2⁶ = 2,99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Original = (120·2,99 , 80·2,99) = (358, 239)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FEATURE EXTRACTION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Harris-Score — Gradient → Matrix M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35331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= [[ Σ Iₓ² , Σ Iₓ·I_y ] , [ Σ Iₓ·I_y , Σ I_y² ]]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855342" y="1737360"/>
            <a:ext cx="5433317" cy="3063240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mnt/user-data/outputs/harris_gradient_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6782" y="1828800"/>
            <a:ext cx="5250437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FEATURE EXTRACTION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Harris-Score — Response R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8138160" cy="868680"/>
          </a:xfrm>
          <a:prstGeom prst="roundRect">
            <a:avLst>
              <a:gd name="adj" fmla="val 8421"/>
            </a:avLst>
          </a:prstGeom>
          <a:solidFill>
            <a:srgbClr val="0B3B5A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71600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det(M) − k·(spur M)²</a:t>
            </a:r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k ≈ 0,04     ( det(M)=Sₓₓ·S_yy − Sₓy²,  spur(M)=Sₓₓ+S_yy )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977890" y="2377440"/>
            <a:ext cx="5188221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/mnt/user-data/outputs/harris_3fael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9330" y="2468880"/>
            <a:ext cx="5005341" cy="1691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4297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Je größer R, desto stärker die Ecke. Wir behalten nur Stellen mit großem R.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FEATURE EXTRACTION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Quadtree — gleichmäßige Verteilung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371600"/>
            <a:ext cx="8138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liefert zu viele Ecken, die an Kanten clustern (275).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Quadtree: Gitter, pro Zelle die nach Harris stärkste Ecke.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Ergebnis: gleichmäßig verteilt und stark (~40–50).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452320"/>
            <a:ext cx="8046720" cy="2319120"/>
          </a:xfrm>
          <a:prstGeom prst="roundRect">
            <a:avLst>
              <a:gd name="adj" fmla="val 1971"/>
            </a:avLst>
          </a:prstGeom>
          <a:solidFill>
            <a:srgbClr val="FFFFFF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mnt/user-data/outputs/quadtree_verglei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543760"/>
            <a:ext cx="7863840" cy="21362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Typisch: FAST t ≈ 20 · 8 Pyramidenstufen · ~500–1000 Features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FEATURE EXTRACTION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Zusammenfassung — vom Bild zu wenigen Ecken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219200" cy="868680"/>
          </a:xfrm>
          <a:prstGeom prst="roundRect">
            <a:avLst>
              <a:gd name="adj" fmla="val 10526"/>
            </a:avLst>
          </a:prstGeom>
          <a:solidFill>
            <a:srgbClr val="F2F6F8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2920" y="1691640"/>
            <a:ext cx="121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30352" y="1947672"/>
            <a:ext cx="1164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530"/>
                </a:solidFill>
              </a:rPr>
              <a:t>Graustufen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712976" y="18516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8"/>
                </a:solidFill>
              </a:rPr>
              <a:t>›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886712" y="1600200"/>
            <a:ext cx="1219200" cy="868680"/>
          </a:xfrm>
          <a:prstGeom prst="roundRect">
            <a:avLst>
              <a:gd name="adj" fmla="val 10526"/>
            </a:avLst>
          </a:prstGeom>
          <a:solidFill>
            <a:srgbClr val="F2F6F8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86712" y="1691640"/>
            <a:ext cx="121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914144" y="1947672"/>
            <a:ext cx="1164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530"/>
                </a:solidFill>
              </a:rPr>
              <a:t>Gauß-Filter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096768" y="18516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8"/>
                </a:solidFill>
              </a:rPr>
              <a:t>›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270504" y="1600200"/>
            <a:ext cx="1219200" cy="868680"/>
          </a:xfrm>
          <a:prstGeom prst="roundRect">
            <a:avLst>
              <a:gd name="adj" fmla="val 10526"/>
            </a:avLst>
          </a:prstGeom>
          <a:solidFill>
            <a:srgbClr val="F2F6F8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270504" y="1691640"/>
            <a:ext cx="121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297936" y="1947672"/>
            <a:ext cx="1164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530"/>
                </a:solidFill>
              </a:rPr>
              <a:t>FAST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480560" y="18516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8"/>
                </a:solidFill>
              </a:rPr>
              <a:t>›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654296" y="1600200"/>
            <a:ext cx="1219200" cy="868680"/>
          </a:xfrm>
          <a:prstGeom prst="roundRect">
            <a:avLst>
              <a:gd name="adj" fmla="val 10526"/>
            </a:avLst>
          </a:prstGeom>
          <a:solidFill>
            <a:srgbClr val="F2F6F8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654296" y="1691640"/>
            <a:ext cx="121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681728" y="1947672"/>
            <a:ext cx="1164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530"/>
                </a:solidFill>
              </a:rPr>
              <a:t>Bildpyramide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864352" y="18516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8"/>
                </a:solidFill>
              </a:rPr>
              <a:t>›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038088" y="1600200"/>
            <a:ext cx="1219200" cy="868680"/>
          </a:xfrm>
          <a:prstGeom prst="roundRect">
            <a:avLst>
              <a:gd name="adj" fmla="val 10526"/>
            </a:avLst>
          </a:prstGeom>
          <a:solidFill>
            <a:srgbClr val="1C7293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038088" y="1691640"/>
            <a:ext cx="121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F3EE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065520" y="1947672"/>
            <a:ext cx="1164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Quadtree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248144" y="18516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8"/>
                </a:solidFill>
              </a:rPr>
              <a:t>›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421880" y="1600200"/>
            <a:ext cx="1219200" cy="868680"/>
          </a:xfrm>
          <a:prstGeom prst="roundRect">
            <a:avLst>
              <a:gd name="adj" fmla="val 10526"/>
            </a:avLst>
          </a:prstGeom>
          <a:solidFill>
            <a:srgbClr val="1C7293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7421880" y="1691640"/>
            <a:ext cx="121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F3EE"/>
                </a:solidFill>
              </a:rPr>
              <a:t>6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449312" y="1947672"/>
            <a:ext cx="1164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Harris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02920" y="292608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 w="12700">
            <a:solidFill>
              <a:srgbClr val="DDE6E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0080" y="29260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~787  </a:t>
            </a:r>
            <a:pPr algn="ctr" indent="0" marL="0">
              <a:buNone/>
            </a:pPr>
            <a:r>
              <a:rPr lang="en-US" sz="1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algn="ctr" indent="0" marL="0">
              <a:buNone/>
            </a:pPr>
            <a:r>
              <a:rPr lang="en-US" sz="19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Quadtree 73  </a:t>
            </a:r>
            <a:pPr algn="ctr" indent="0" marL="0">
              <a:buNone/>
            </a:pPr>
            <a:r>
              <a:rPr lang="en-US" sz="1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algn="ctr" indent="0" marL="0">
              <a:buNone/>
            </a:pPr>
            <a:r>
              <a:rPr lang="en-US" sz="19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Harris Top 40</a:t>
            </a:r>
            <a:endParaRPr lang="en-US" sz="1900" dirty="0"/>
          </a:p>
        </p:txBody>
      </p:sp>
      <p:sp>
        <p:nvSpPr>
          <p:cNvPr id="30" name="Text 27"/>
          <p:cNvSpPr/>
          <p:nvPr/>
        </p:nvSpPr>
        <p:spPr>
          <a:xfrm>
            <a:off x="502920" y="40690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Jeder Schritt filtert: die Menge sinkt, die Qualität steigt.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VISUELLE ODOMETRIE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Orientierung θ — das Feature wird drehbar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325880"/>
            <a:ext cx="8138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31×31 (Radius 15). θ = Richtung zum Helligkeits-Schwerpunkt.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Macht das Feature rotationsinvariant (gleiche Ecke → gleiches θ).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1800728" y="2194560"/>
            <a:ext cx="5542544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mnt/user-data/outputs/orient_rechnu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2168" y="2286000"/>
            <a:ext cx="5359664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VISUELLE ODOMETRIE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Binärer Deskriptor — der Fingerabdruck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37160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feste Pixelpaare. Regel: </a:t>
            </a:r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I(A) &gt; I(B) → 1</a:t>
            </a:r>
            <a:pPr indent="0" marL="0">
              <a:buNone/>
            </a:pPr>
            <a:r>
              <a:rPr lang="en-US" sz="14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sonst 0.  (hier 10 Paare)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948300" y="1828800"/>
            <a:ext cx="5247401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mnt/user-data/outputs/deskriptor_prinz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9740" y="1920240"/>
            <a:ext cx="5064521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VISUELLE ODOMETRIE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Deskriptor wird mit θ gedreht (steered BRIEF)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3716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die Paare ohne Rotation, rechts dieselben Paare um θ gedreht (1 Paar hervorgehoben) → dieselbe Ecke ergibt denselben Bit-String.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2054361" y="1920240"/>
            <a:ext cx="5035278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mnt/user-data/outputs/deskriptor_rot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5801" y="2011680"/>
            <a:ext cx="4852398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VISUELLE ODOMETRIE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Matching — dieselbe Ecke wiederfinden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41732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Verglichen werden die 256-Bit-Deskriptoren, nicht die Pixel.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Maß = Hamming-Distanz: Anzahl unterschiedlicher Bits (XOR).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Wenig Unterschiede → gleiche Ecke.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3844135" y="1280160"/>
            <a:ext cx="4976171" cy="3566160"/>
          </a:xfrm>
          <a:prstGeom prst="roundRect">
            <a:avLst>
              <a:gd name="adj" fmla="val 1282"/>
            </a:avLst>
          </a:prstGeom>
          <a:solidFill>
            <a:srgbClr val="FFFFFF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mnt/user-data/outputs/hamming_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5575" y="1371600"/>
            <a:ext cx="4793291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VISUELLE ODOMETRIE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 Ratio-Test — nur eindeutige Treffer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11480" y="1336465"/>
            <a:ext cx="8321040" cy="2401990"/>
          </a:xfrm>
          <a:prstGeom prst="roundRect">
            <a:avLst>
              <a:gd name="adj" fmla="val 1903"/>
            </a:avLst>
          </a:prstGeom>
          <a:solidFill>
            <a:srgbClr val="FFFFFF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mnt/user-data/outputs/match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27905"/>
            <a:ext cx="8138160" cy="221911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02920" y="3931920"/>
            <a:ext cx="8138160" cy="868680"/>
          </a:xfrm>
          <a:prstGeom prst="roundRect">
            <a:avLst>
              <a:gd name="adj" fmla="val 8421"/>
            </a:avLst>
          </a:prstGeom>
          <a:solidFill>
            <a:srgbClr val="F2F6F8"/>
          </a:solidFill>
          <a:ln w="12700">
            <a:solidFill>
              <a:srgbClr val="DDE6E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31520" y="3931920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Ratio-Test:  </a:t>
            </a:r>
            <a:pPr indent="0" marL="0">
              <a:buNone/>
            </a:pPr>
            <a:r>
              <a:rPr lang="en-US" sz="135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d(best)/d(2.) &lt; 0,75 → behalten.   </a:t>
            </a:r>
            <a:pPr indent="0" marL="0">
              <a:buNone/>
            </a:pPr>
            <a:r>
              <a:rPr lang="en-US" sz="135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12/80=0,15 behalten · 40/45=0,89 verwerfen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VISUELLE ODOMETRIE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Pose-Schätzung — Pipeline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41732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Eingang: ≥ 5 (meist 8) Punktpaare (x, x') aus Schritt 10.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findEssentialMat + RANSAC → E  (+ Inlier/Outlier).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recoverPose (SVD) → R und t.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Drehung (SO(3)).  t = Richtung (‖t‖=1, Skala unbekannt).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212080" y="1463040"/>
            <a:ext cx="3566160" cy="3063240"/>
          </a:xfrm>
          <a:prstGeom prst="roundRect">
            <a:avLst>
              <a:gd name="adj" fmla="val 2388"/>
            </a:avLst>
          </a:prstGeom>
          <a:solidFill>
            <a:srgbClr val="0B3B5A"/>
          </a:solidFill>
          <a:ln/>
        </p:spPr>
      </p:sp>
      <p:sp>
        <p:nvSpPr>
          <p:cNvPr id="7" name="Text 4"/>
          <p:cNvSpPr/>
          <p:nvPr/>
        </p:nvSpPr>
        <p:spPr>
          <a:xfrm>
            <a:off x="5440680" y="1691640"/>
            <a:ext cx="3200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x'ᵀ · E · x = 0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(Epipolar-Bedingung)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= [t]ₓ · R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versteckt R und 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→(SVD)→ R, t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VISUELLE ODOMETRIE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Beispiel — Inlier / Outlier prüfen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417320"/>
            <a:ext cx="3749040" cy="3154680"/>
          </a:xfrm>
          <a:prstGeom prst="roundRect">
            <a:avLst>
              <a:gd name="adj" fmla="val 2319"/>
            </a:avLst>
          </a:prstGeom>
          <a:solidFill>
            <a:srgbClr val="F2F6F8"/>
          </a:solidFill>
          <a:ln w="12700">
            <a:solidFill>
              <a:srgbClr val="DDE6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1572768"/>
            <a:ext cx="33832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Seitwärts-Bewegung:  E = [[0,0,0],[0,0,−1],[0,1,0]]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= (3, 2, 1)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Inlier:  x' = (1, 2, 1)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x'ᵀ·E·x = 0  ✓  (y gleich)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B2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Outlier:  x' = (1, 5, 1)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x'ᵀ·E·x = −3  ✗  → RANSAC verwirft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470092" y="1325880"/>
            <a:ext cx="4318616" cy="3474720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/mnt/user-data/outputs/pose_beispiel_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1532" y="1417320"/>
            <a:ext cx="4135736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VISUELLE ODOMETRIE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Trajektorie — Schritt für Schritt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37160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P₀ = (0,0,0),  R_global = I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(jedes Paar):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P_{i+1} = P_i + R_global·t_i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R_global = R_global·R_i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Ausgabe: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 aller P_i = Trajektorie</a:t>
            </a:r>
            <a:endParaRPr lang="en-US" sz="1300" dirty="0"/>
          </a:p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P=Position · t=lokaler Schritt · R=Drehung (Schritt 11) · R_global=Gesamt-Orientierung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206240" y="1807495"/>
            <a:ext cx="4709160" cy="2511490"/>
          </a:xfrm>
          <a:prstGeom prst="roundRect">
            <a:avLst>
              <a:gd name="adj" fmla="val 1820"/>
            </a:avLst>
          </a:prstGeom>
          <a:solidFill>
            <a:srgbClr val="FFFFFF"/>
          </a:solidFill>
          <a:ln w="12700">
            <a:solidFill>
              <a:srgbClr val="DDE6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mnt/user-data/outputs/trajektorie_beispi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898935"/>
            <a:ext cx="4526280" cy="232861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3B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731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Drift — und wie es weitergeht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Schätzung hat einen kleinen Fehler — über viele Frames summieren sie sich: die Trajektorie driftet. Und die Punkte sind bisher nur 2D.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30632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Weiter: 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 Lokales Mapping (2D→3D) · 2.2 Bundle Adjustment · 3.1 Loop Closure · 3.2 Globale Optimierung.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Danke für die Aufmerksamkeit!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Visuelles SLAM</dc:title>
  <dc:subject>PptxGenJS Presentation</dc:subject>
  <dc:creator>PptxGenJS</dc:creator>
  <cp:lastModifiedBy>PptxGenJS</cp:lastModifiedBy>
  <cp:revision>1</cp:revision>
  <dcterms:created xsi:type="dcterms:W3CDTF">2026-06-16T12:02:12Z</dcterms:created>
  <dcterms:modified xsi:type="dcterms:W3CDTF">2026-06-16T12:02:12Z</dcterms:modified>
</cp:coreProperties>
</file>