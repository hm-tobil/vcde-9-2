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10058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SLAM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840480" y="1965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ORB-SLAM3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40480" y="27432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· Visuelle Odometrie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Lokales Mapping · Optimierung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28346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vSLAM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2025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3063240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44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410712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924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Visuelle Odometrie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758184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39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Lokales Mapping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105656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87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Globales Mapping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Visual SLAM?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54864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78992"/>
            <a:ext cx="786384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Localization and Mapping (SLAM) mit einer Kamera als einzigem Sensor. Das System schätzt gleichzeitig die eigene Position (Odometrie) und baut eine 3D-Karte der Umgebung auf.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20240" cy="14173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192024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Lokalisierung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231136"/>
            <a:ext cx="19202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bin ich?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Kamera-Pose: R, 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1920240"/>
            <a:ext cx="1920240" cy="14173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920240"/>
            <a:ext cx="192024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920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3D-Karte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231136"/>
            <a:ext cx="19202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sehe ich?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im Raum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920240"/>
            <a:ext cx="1920240" cy="14173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920240"/>
            <a:ext cx="192024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920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Gleichzeitig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231136"/>
            <a:ext cx="19202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Probleme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werden zusammen gelöst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920240"/>
            <a:ext cx="1920240" cy="14173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920240"/>
            <a:ext cx="192024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920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231136"/>
            <a:ext cx="19202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Kamera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GPS, kein LiDAR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54864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520440"/>
            <a:ext cx="80467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ORB-SLAM3</a:t>
            </a:r>
            <a:pPr algn="l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 der Standard-Algorithmus für vSLAM.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Verarbeitet pro Frame ~1000–2000 Features statt 320.000 Pixel.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Echtzeit-fähig, Open Source, rotation- und skalierungsinvariant.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vSLAM-Gesamtworkflow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828800" cy="2560320"/>
          </a:xfrm>
          <a:prstGeom prst="rect">
            <a:avLst/>
          </a:prstGeom>
          <a:solidFill>
            <a:srgbClr val="1A527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18872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1097280"/>
            <a:ext cx="1828800" cy="2560320"/>
          </a:xfrm>
          <a:prstGeom prst="rect">
            <a:avLst/>
          </a:prstGeom>
          <a:solidFill>
            <a:srgbClr val="117A6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18872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Odometrie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1828800" cy="2560320"/>
          </a:xfrm>
          <a:prstGeom prst="rect">
            <a:avLst/>
          </a:prstGeom>
          <a:solidFill>
            <a:srgbClr val="7D6608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57800" y="118872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6344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3D-Punkte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Adj.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1097280"/>
            <a:ext cx="1828800" cy="2560320"/>
          </a:xfrm>
          <a:prstGeom prst="rect">
            <a:avLst/>
          </a:prstGeom>
          <a:solidFill>
            <a:srgbClr val="7B241C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60920" y="118872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6656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Closure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 Karte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794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Historischer Überblick — Feature-Detektoren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87368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554480"/>
                <a:gridCol w="57607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 Corner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F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Ecken per Gradientenmatrix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 (Lowe)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F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Skalen- &amp; rotationsinvariant — zu langsam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F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Binäre Deskriptoren — sehr schnell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F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+ BRIEF + Rotation — Echtzeit, Open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1–7: Vom Kamerabild zu robusten Keypoints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FEATURE EXTRACTION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— Pipeline (Schritte 1–7)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749808" cy="77724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74980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1143000"/>
            <a:ext cx="868680" cy="77724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1430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399032"/>
            <a:ext cx="868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Graustufen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65960" y="128016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1143000"/>
            <a:ext cx="868680" cy="77724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1430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1399032"/>
            <a:ext cx="868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71800" y="128016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1143000"/>
            <a:ext cx="868680" cy="777240"/>
          </a:xfrm>
          <a:prstGeom prst="rect">
            <a:avLst/>
          </a:prstGeom>
          <a:solidFill>
            <a:srgbClr val="6B1A1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1430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1399032"/>
            <a:ext cx="868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77640" y="128016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0" y="1143000"/>
            <a:ext cx="868680" cy="777240"/>
          </a:xfrm>
          <a:prstGeom prst="rect">
            <a:avLst/>
          </a:prstGeom>
          <a:solidFill>
            <a:srgbClr val="6B1A1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11430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1399032"/>
            <a:ext cx="868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128016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1143000"/>
            <a:ext cx="868680" cy="777240"/>
          </a:xfrm>
          <a:prstGeom prst="rect">
            <a:avLst/>
          </a:prstGeom>
          <a:solidFill>
            <a:srgbClr val="6B1A1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1430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1399032"/>
            <a:ext cx="868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Schwellw.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89320" y="128016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1143000"/>
            <a:ext cx="868680" cy="777240"/>
          </a:xfrm>
          <a:prstGeom prst="rect">
            <a:avLst/>
          </a:prstGeom>
          <a:solidFill>
            <a:srgbClr val="6B1A1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1430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1399032"/>
            <a:ext cx="868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Quadtree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95160" y="128016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32320" y="1143000"/>
            <a:ext cx="868680" cy="777240"/>
          </a:xfrm>
          <a:prstGeom prst="rect">
            <a:avLst/>
          </a:prstGeom>
          <a:solidFill>
            <a:srgbClr val="6B1A1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11430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1399032"/>
            <a:ext cx="868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01000" y="128016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55280" y="1143000"/>
            <a:ext cx="713232" cy="777240"/>
          </a:xfrm>
          <a:prstGeom prst="rect">
            <a:avLst/>
          </a:prstGeom>
          <a:solidFill>
            <a:srgbClr val="0D4726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1143000"/>
            <a:ext cx="71323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2148840"/>
            <a:ext cx="274320" cy="1645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2130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Vorverarbeitung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0" y="2148840"/>
            <a:ext cx="274320" cy="164592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2130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ORB-SLAM3-spezifisch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2423160"/>
            <a:ext cx="2697480" cy="246888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2423160"/>
            <a:ext cx="26974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Schritte 1–2: Vorverarbeitung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7472" y="2724912"/>
            <a:ext cx="2551176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Graustufen:  I = 0.299·R + 0.587·G + 0.114·B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Gauss-Filter: 5×5 Kernel, σ=1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Kamerarauschen entfernen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108960" y="2423160"/>
            <a:ext cx="2880360" cy="246888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0" y="2423160"/>
            <a:ext cx="288036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0" y="2423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Schritte 3–5: Skalierung &amp; Detektion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182112" y="2724912"/>
            <a:ext cx="2734056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Bildpyramide: 8 Stufen, Faktor 1.2×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Skalierungsinvarianz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16-Pixel Kreisring-Test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Adaptiver Schwellenwert je Region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26480" y="2423160"/>
            <a:ext cx="2697480" cy="246888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26480" y="2423160"/>
            <a:ext cx="26974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Schritte 6–7: Auswahl &amp; Ranking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99632" y="2724912"/>
            <a:ext cx="2551176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Quadtree-Partitionierung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gleichmäßige räumliche Verteilung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 Score → Qualitätsranking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 beste Keypoints pro Frame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FEATURE EXTRACTION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— DATENSATZ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sieht die Kamera? — Unser Datensatz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8" name="Image 0" descr="/sessions/intelligent-practical-bohr/mnt/outputs/viz_01_raw_fra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24128"/>
            <a:ext cx="822960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069080"/>
            <a:ext cx="54864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069080"/>
            <a:ext cx="80467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Datensatz: </a:t>
            </a:r>
            <a:pPr algn="l"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Kamera-Frames einer Außenszene (Parkplatz/Einfahrt), 800×400 Pixel pro Frame. </a:t>
            </a:r>
            <a:pPr algn="l" indent="0" marL="0">
              <a:buNone/>
            </a:pPr>
            <a:r>
              <a:rPr lang="en-US" sz="12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den Computer ist jeder Frame eine Matrix aus Helligkeitswerten 0–255 — keine Semantik, nur Zahlen.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FEATURE EXTRACTION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— DATENSATZ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Schritte 1–2: Vorverarbeitung am Datensatz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8" name="Image 0" descr="/sessions/intelligent-practical-bohr/mnt/outputs/viz_02_preprocess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24128"/>
            <a:ext cx="822960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913632"/>
            <a:ext cx="27432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913632"/>
            <a:ext cx="2743200" cy="2377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9136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1: Graustufen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21208" y="4169664"/>
            <a:ext cx="2615184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0.299·R + 0.587·G + 0.114·B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 trägt keine geometrische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— 3 Kanäle → 1.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55848" y="3913632"/>
            <a:ext cx="27432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55848" y="3913632"/>
            <a:ext cx="2743200" cy="2377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55848" y="39136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2: Gauss-Filter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19856" y="4169664"/>
            <a:ext cx="2615184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G(x,y) = 1/(2πσ²)·e^(-(x²+y²)/2σ²)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Rauschen reduzieren ohne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Kanten zu entfernen.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54496" y="3913632"/>
            <a:ext cx="27432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54496" y="3913632"/>
            <a:ext cx="2743200" cy="237744"/>
          </a:xfrm>
          <a:prstGeom prst="rect">
            <a:avLst/>
          </a:prstGeom>
          <a:solidFill>
            <a:srgbClr val="02C39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54496" y="39136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18504" y="4169664"/>
            <a:ext cx="2615184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Geglättetes Graustufenbild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 für den FAST-Detektor.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Verarbeitung: &lt; 1ms pro Frame.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FEATURE EXTRACTION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— DATENSATZ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Schritte 3–5: Bildpyramide &amp; FAST am Datensatz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Bildpyramide — 4 von 8 Skalierungsstufen</a:t>
            </a:r>
            <a:endParaRPr lang="en-US" sz="1100" dirty="0"/>
          </a:p>
        </p:txBody>
      </p:sp>
      <p:pic>
        <p:nvPicPr>
          <p:cNvPr id="9" name="Image 0" descr="/sessions/intelligent-practical-bohr/mnt/outputs/viz_06_pyram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5029200" cy="1737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23560" y="1024128"/>
            <a:ext cx="3063240" cy="2084832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1024128"/>
            <a:ext cx="3063240" cy="27432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10241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3: Bildpyramide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87568" y="1325880"/>
            <a:ext cx="2926080" cy="17190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Stufen, Faktor 1.2 zwischen jeder Stufe.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auf Stufe k → Originalposition: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xₖ × 1.2ᵏ   y = yₖ × 1.2ᵏ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 Laterne 2m vs. 10m entfernt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auf verschiedenen Stufen erkannt.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182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Detektor — Einfluss des Schwellenwerts auf unserem Datensatz</a:t>
            </a:r>
            <a:endParaRPr lang="en-US" sz="1100" dirty="0"/>
          </a:p>
        </p:txBody>
      </p:sp>
      <p:pic>
        <p:nvPicPr>
          <p:cNvPr id="15" name="Image 1" descr="/sessions/intelligent-practical-bohr/mnt/outputs/viz_03_fast_threshold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474720"/>
            <a:ext cx="822960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FEATURE EXTRACTION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— DATENSATZ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500 ORB Keypoints pro Frame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8" name="Image 0" descr="/sessions/intelligent-practical-bohr/mnt/outputs/viz_04_orb_keypoi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24128"/>
            <a:ext cx="8229600" cy="2788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950208"/>
            <a:ext cx="27432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950208"/>
            <a:ext cx="274320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Schritte 6–7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0352" y="4233672"/>
            <a:ext cx="259689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Quadtree + Harris Score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verteilen und ranken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Keypoints.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55848" y="3950208"/>
            <a:ext cx="2743200" cy="1005840"/>
          </a:xfrm>
          <a:prstGeom prst="rect">
            <a:avLst/>
          </a:prstGeom>
          <a:solidFill>
            <a:srgbClr val="0D472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55848" y="3950208"/>
            <a:ext cx="274320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55848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Features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29000" y="4233672"/>
            <a:ext cx="259689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Frame aus 800×400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320.000 Pixel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500 markante Punkte.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54496" y="3950208"/>
            <a:ext cx="2743200" cy="100584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54496" y="3950208"/>
            <a:ext cx="274320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54496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Deskriptor folgt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27648" y="4233672"/>
            <a:ext cx="2596896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Keypoint bekommt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 256-Bit ORB-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Deskriptor (Schritt 8–9).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Visuelle Odometrie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Schritte 8–12: Kamerabewegung aus Bildsequenzen berechnen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VISUELLE ODOMETRIE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Schritte 8–9: ORB Patch, Orientierung &amp; Deskriptor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54864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78992"/>
            <a:ext cx="8046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algn="l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 Ecke sieht je nach Blickwinkel verschieden aus → direkter Pixel-Vergleich schlägt fehl.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4114800" cy="141732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82496"/>
            <a:ext cx="411480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82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8 — Patch &amp; Orientierung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84248"/>
            <a:ext cx="393192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31×31 Pixel Fenster um jeden Keypoint extrahieren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Orientierungswinkel θ per Intensity Centroid berechnen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Beide Patches auf θ=0° drehen → rotationsinvariant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682496"/>
            <a:ext cx="3931920" cy="1417320"/>
          </a:xfrm>
          <a:prstGeom prst="rect">
            <a:avLst/>
          </a:prstGeom>
          <a:solidFill>
            <a:srgbClr val="0B17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82496"/>
            <a:ext cx="393192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atan2(m₀₁, m₁₀)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m_pq = Σ xᵖ yᵍ · I(x,y)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4114800" cy="169164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55264"/>
            <a:ext cx="411480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55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9 — 256-Bit Deskriptor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557016"/>
            <a:ext cx="393192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Pixelpaare im Patch vergleichen: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τ(p; x, y) = 1  falls I(px) &lt; I(py), sonst 0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256-Bit Fingerabdruck pro Feature.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 kompakter als SIFT (32 Byte statt 512 Byte).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255264"/>
            <a:ext cx="3931920" cy="1691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255264"/>
            <a:ext cx="393192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55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per Hamming-Distanz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557016"/>
            <a:ext cx="374904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A: 1101 0011 1010 0111 ...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B: 1101 0011 1010 0110 ...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Hamming-Distanz = 1 Bit → gleiche Ecke!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Schwelle typisch: d &lt; 64 Bit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Vergleich: XOR + Popcount — extrem schnell.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VISUELLE ODOMETRIE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— DATENSATZ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10: Feature Matching — Frame 0 ↔ Frame 15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8" name="Image 0" descr="/sessions/intelligent-practical-bohr/mnt/outputs/viz_05_match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24128"/>
            <a:ext cx="8229600" cy="2606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749040"/>
            <a:ext cx="2743200" cy="123444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749040"/>
            <a:ext cx="274320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749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Matcher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0352" y="4032504"/>
            <a:ext cx="2596896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Deskriptor aus Frame 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allen aus Frame 15 vergleichen.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Hamming-Distanz.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55848" y="3749040"/>
            <a:ext cx="2743200" cy="123444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55848" y="3749040"/>
            <a:ext cx="274320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55848" y="3749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beste Matches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29000" y="4032504"/>
            <a:ext cx="2596896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Ratio-Test filtert falsch-positive.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robuste Korrespondenzpaare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Grundlage für die Pose-Schätzung.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54496" y="3749040"/>
            <a:ext cx="2743200" cy="123444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54496" y="3749040"/>
            <a:ext cx="274320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54496" y="3749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Essential Matrix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27648" y="4032504"/>
            <a:ext cx="2596896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≥8 Matches per RANSAC: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[t]× 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liefert R und 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VISUELLE ODOMETRIE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— DATENSATZ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Schritte 11–12: Pose-Schätzung &amp; Kamera-Trajektorie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8" name="Image 0" descr="/sessions/intelligent-practical-bohr/mnt/outputs/viz_07_trajec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24128"/>
            <a:ext cx="4389120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0" y="1024128"/>
            <a:ext cx="3657600" cy="150876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024128"/>
            <a:ext cx="365760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11 — Essential Matrix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02352" y="1325880"/>
            <a:ext cx="35204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≥8 Korrespondenzpaaren per RANSAC: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[t]× · R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SVD-Zerlegung liefert Rotation R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Translation t zwischen zwei Frames.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0" y="2697480"/>
            <a:ext cx="3657600" cy="150876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0" y="2697480"/>
            <a:ext cx="365760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12 — Trajektorie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102352" y="2999232"/>
            <a:ext cx="352044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Posen über Zeit akkumulieren: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T_n = T_{n-1} · ΔT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summieren sich mit jeder Schätzung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(«Drift») → Bundle Adjustment nötig.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0" y="4361688"/>
            <a:ext cx="3657600" cy="566928"/>
          </a:xfrm>
          <a:prstGeom prst="rect">
            <a:avLst/>
          </a:prstGeom>
          <a:solidFill>
            <a:srgbClr val="0D472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102352" y="4407408"/>
            <a:ext cx="35204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Kamera-Posen aus 100 Frames unseres Datensatzes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Kamera bewegt sich ~10m vorwärts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Lokales Mapping + Optimierung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3D-Karte aufbauen und per Bundle Adjustment optimieren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LOKALES MAPPING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Lokales Mapping — Von Keypoints zu 3D-Landmarks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600200" cy="155448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1188720"/>
            <a:ext cx="731520" cy="7315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extrahieren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359152"/>
            <a:ext cx="1600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pro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65960" y="16002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1097280"/>
            <a:ext cx="1600200" cy="155448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2888" y="1188720"/>
            <a:ext cx="731520" cy="7315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0312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03120" y="2359152"/>
            <a:ext cx="1600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 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mehreren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verfolgen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03320" y="16002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0" y="1097280"/>
            <a:ext cx="1600200" cy="155448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70248" y="1188720"/>
            <a:ext cx="731520" cy="7315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0248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4048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Initialposen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schätzen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0" y="2359152"/>
            <a:ext cx="1600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Matrix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PnP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40680" y="16002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77840" y="1097280"/>
            <a:ext cx="1600200" cy="1554480"/>
          </a:xfrm>
          <a:prstGeom prst="rect">
            <a:avLst/>
          </a:prstGeom>
          <a:solidFill>
            <a:srgbClr val="0D472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07608" y="1188720"/>
            <a:ext cx="731520" cy="7315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07608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7784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77840" y="2359152"/>
            <a:ext cx="1600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Sehstrahlen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schneiden sich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3D-Punkt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78040" y="16002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0" y="1097280"/>
            <a:ext cx="1600200" cy="1554480"/>
          </a:xfrm>
          <a:prstGeom prst="rect">
            <a:avLst/>
          </a:prstGeom>
          <a:solidFill>
            <a:srgbClr val="0D472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44968" y="1188720"/>
            <a:ext cx="731520" cy="7315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44968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1520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3D-Karte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visualisieren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15200" y="2359152"/>
            <a:ext cx="1600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Kameraposen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2852928"/>
            <a:ext cx="54864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2852928"/>
            <a:ext cx="8046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Track-Konzept: </a:t>
            </a:r>
            <a:pPr algn="l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Dasselbe Feature in mehreren Frames = ein 3D-Landmark (ein fixer Punkt in der Welt).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3429000"/>
            <a:ext cx="8229600" cy="1481328"/>
          </a:xfrm>
          <a:prstGeom prst="rect">
            <a:avLst/>
          </a:prstGeom>
          <a:solidFill>
            <a:srgbClr val="0B1F3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3520440"/>
            <a:ext cx="8046720" cy="12984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17:    Frame 0 (kp 42)  ↔  Frame 1 (kp 88)  ↔  Frame 2 (kp 15)  ↔  Frame 3 (kp 102)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18:    Frame 0 (kp 51)  ↔  Frame 1 (kp 73)  ↔  Frame 2 (kp 19)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19:                         Frame 1 (kp 55)  ↔  Frame 2 (kp 91)  ↔  Frame 3 (kp 44)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LOKALES MAPPING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— DATENSATZ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5: Lokale 3D-Karte unseres Datensatzes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8" name="Image 0" descr="/sessions/intelligent-practical-bohr/mnt/outputs/viz_08_local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24128"/>
            <a:ext cx="5029200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23560" y="1024128"/>
            <a:ext cx="3063240" cy="141732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23560" y="1024128"/>
            <a:ext cx="306324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23560" y="10241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87568" y="1325880"/>
            <a:ext cx="292608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Sehstrahl von jeder Kamera durch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beobachteten Pixel → schneidet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 im 3D-Punkt X.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∼ P · X    (Projektion)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23560" y="2606040"/>
            <a:ext cx="3063240" cy="141732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23560" y="2606040"/>
            <a:ext cx="30632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3560" y="2606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zeigt die Karte?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87568" y="2907792"/>
            <a:ext cx="292608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Blaue Punkte: Landmarks (3D)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Goldene Dreiecke: Kameraposen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Linie: Trajektorie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Keyframes aus unserem Datensatz.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23560" y="4178808"/>
            <a:ext cx="3063240" cy="731520"/>
          </a:xfrm>
          <a:prstGeom prst="rect">
            <a:avLst/>
          </a:prstGeom>
          <a:solidFill>
            <a:srgbClr val="0D472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87568" y="4224528"/>
            <a:ext cx="294436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Bundle Adjustment: Punkte noch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verstreut — Optimierung folgt in Schritt 7.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LOKALES MAPPING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Schritte 6–8: Bundle Adjustment — Lokale Optimierung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114800" cy="201168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6 — Reprojektionsfehler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99032"/>
            <a:ext cx="3931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3D-Punkt X projiziert durch Kamera i sollte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auf den beobachteten Pixel x_ij fallen: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3931920" cy="502920"/>
          </a:xfrm>
          <a:prstGeom prst="rect">
            <a:avLst/>
          </a:prstGeom>
          <a:solidFill>
            <a:srgbClr val="0B17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r_ij = x_ij − π( K · (R_i · X_j + t_i) 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450592"/>
            <a:ext cx="3931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π(·) = Lochkamera-Projektion (Division durch Tiefe)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201168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7 — Bundle Adjustment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399032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Kamera-Posen und 3D-Punkte gemeinsam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optimieren — Kamera 0 fixiert: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1920240"/>
            <a:ext cx="3749040" cy="502920"/>
          </a:xfrm>
          <a:prstGeom prst="rect">
            <a:avLst/>
          </a:prstGeom>
          <a:solidFill>
            <a:srgbClr val="0B17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20240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Σ_ij ‖ r_ij ‖²     Löser: Levenberg-Marquardt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450592"/>
            <a:ext cx="3749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Rotationen als 3D-Vektoren (Rodrigues, 3 Parameter).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54864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8 — Ergebnis: </a:t>
            </a:r>
            <a:pPr algn="l"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Reprojektionsfehler sinkt signifikant; 3D-Punkte rücken enger zusammen, Posen werden konsistent.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4114800" cy="123444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49040"/>
            <a:ext cx="411480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 (roh)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059936"/>
            <a:ext cx="39319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Mittlerer Fehler: ~2–5 px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279392"/>
            <a:ext cx="39319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3D-Punkte verstreut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498848"/>
            <a:ext cx="39319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Kameraposen ungenau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718304"/>
            <a:ext cx="39319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Drift akkumuliert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749040"/>
            <a:ext cx="4114800" cy="123444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749040"/>
            <a:ext cx="411480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 (BA)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59936"/>
            <a:ext cx="39319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Mittlerer Fehler: &lt; 1 px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279392"/>
            <a:ext cx="39319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3D-Punkte kompakt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4498848"/>
            <a:ext cx="39319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Posen konsistent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718304"/>
            <a:ext cx="39319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Keine Drift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Globales Mapping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Closure + Pose-Graph-Optimierung: Drift eliminieren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GLOBALES MAPPING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Drift-Problem — Warum VO allein nicht reicht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54864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78992"/>
            <a:ext cx="80467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algn="l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Visuelle Odometrie schätzt Bewegung Frame-für-Frame — jede Schätzung hat einen kleinen Fehler. Über hunderte Frames akkumuliert sich dieser Drift zu </a:t>
            </a:r>
            <a:pPr algn="l"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mehreren Metern Abweichung.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4023360" cy="192024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64208"/>
            <a:ext cx="402336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64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(10 Frames)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3840480" cy="1572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VO- und Ground-Truth-Pfad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deckungsgleich.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Fehler: &lt; 0.05 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(kaum sichtbar)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2487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74920" y="1664208"/>
            <a:ext cx="3611880" cy="1920240"/>
          </a:xfrm>
          <a:prstGeom prst="rect">
            <a:avLst/>
          </a:prstGeom>
          <a:solidFill>
            <a:srgbClr val="2D0B0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74920" y="1664208"/>
            <a:ext cx="361188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6642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(350 Frames)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1965960"/>
            <a:ext cx="3429000" cy="1572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akkumuliert sich.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Geschätzter Pfad weicht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Meter ab.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Datensatz: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mittlerer Fehler ~3.42 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8229600" cy="1234440"/>
          </a:xfrm>
          <a:prstGeom prst="rect">
            <a:avLst/>
          </a:prstGeom>
          <a:solidFill>
            <a:srgbClr val="0B1F3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Lösung: Loop Closure + Pose-Graph-Optimierung (PGO)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041648"/>
            <a:ext cx="8046720" cy="8778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die Kamera an einen früher besuchten Ort zurückkehrt (Loop), liefert die Loop-Closure-Detektion einen Constraint, der den akkumulierten Fehler global korrigiert — 88% Drift-Reduktion auf unserem Datensatz.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GLOBALES MAPPING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Closure Detection — 4-Schritt-Pipeline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938528" cy="1783080"/>
          </a:xfrm>
          <a:prstGeom prst="rect">
            <a:avLst/>
          </a:prstGeom>
          <a:solidFill>
            <a:srgbClr val="2D0B0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1170432"/>
            <a:ext cx="868680" cy="8686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1704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075688"/>
            <a:ext cx="193852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Räumliche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Kandidaten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193852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Distanz &lt; 1.5 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Δt &gt; 20 Frames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~15–20 Kandidaten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04288" y="1664208"/>
            <a:ext cx="21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14600" y="1097280"/>
            <a:ext cx="1938528" cy="1783080"/>
          </a:xfrm>
          <a:prstGeom prst="rect">
            <a:avLst/>
          </a:prstGeom>
          <a:solidFill>
            <a:srgbClr val="2D0B0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26664" y="1170432"/>
            <a:ext cx="868680" cy="8686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26664" y="11704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14600" y="2075688"/>
            <a:ext cx="193852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Visual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487168"/>
            <a:ext cx="193852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Vokabular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χ²-Ähnlichkeit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zw. BoW-Histogrammen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53128" y="1664208"/>
            <a:ext cx="21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1938528" cy="1783080"/>
          </a:xfrm>
          <a:prstGeom prst="rect">
            <a:avLst/>
          </a:prstGeom>
          <a:solidFill>
            <a:srgbClr val="2D0B0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75504" y="1170432"/>
            <a:ext cx="868680" cy="8686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75504" y="11704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63440" y="2075688"/>
            <a:ext cx="193852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Kombiniertes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487168"/>
            <a:ext cx="193852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BoW-Ähnlichkeit 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räumliche Nähe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Top-8 Kandidaten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01968" y="1664208"/>
            <a:ext cx="21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12280" y="1097280"/>
            <a:ext cx="1938528" cy="1783080"/>
          </a:xfrm>
          <a:prstGeom prst="rect">
            <a:avLst/>
          </a:prstGeom>
          <a:solidFill>
            <a:srgbClr val="0D472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24344" y="1170432"/>
            <a:ext cx="868680" cy="8686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24344" y="11704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12280" y="2075688"/>
            <a:ext cx="193852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Geometrische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2487168"/>
            <a:ext cx="193852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3D-Punkt-Überlappung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10% Inlier-Ratio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finale Loops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035808"/>
            <a:ext cx="4114800" cy="1143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035808"/>
            <a:ext cx="4114800" cy="256032"/>
          </a:xfrm>
          <a:prstGeom prst="rect">
            <a:avLst/>
          </a:prstGeom>
          <a:solidFill>
            <a:srgbClr val="2D0B0B"/>
          </a:solidFill>
          <a:ln w="12700">
            <a:solidFill>
              <a:srgbClr val="2D0B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035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Visual Words — χ²-Distanz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0352" y="3319272"/>
            <a:ext cx="3968496" cy="804672"/>
          </a:xfrm>
          <a:prstGeom prst="rect">
            <a:avLst/>
          </a:prstGeom>
          <a:solidFill>
            <a:srgbClr val="0B17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319272"/>
            <a:ext cx="3968496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X²(va,vb) = (1/2) · Σk (va(k) - vb(k))²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(va(k) + vb(k) + ε)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3035808"/>
            <a:ext cx="3931920" cy="1143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035808"/>
            <a:ext cx="3931920" cy="256032"/>
          </a:xfrm>
          <a:prstGeom prst="rect">
            <a:avLst/>
          </a:prstGeom>
          <a:solidFill>
            <a:srgbClr val="0D4726"/>
          </a:solidFill>
          <a:ln w="12700">
            <a:solidFill>
              <a:srgbClr val="0D47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35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auf unserem Datensatz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3319272"/>
            <a:ext cx="3767328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Kandidaten → 2 verifizierte Loops: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#1  KF62 ↔ KF106   Inlier-Ratio: 69%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#2  KF56 ↔ KF100   Inlier-Ratio: 55%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315968"/>
            <a:ext cx="54864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315968"/>
            <a:ext cx="8046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4 Schritte? </a:t>
            </a:r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 allein erzeugt Falsch-Positive (ähnliche Struktur an anderem Ort). Räumliche Nähe und geometrische Verifikation eliminieren diese — nur echte Loops werden Constraints.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GLOBALES MAPPING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— DATENSATZ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Erkannter Loop: KF 62 ↔ KF 106 — dieselbe Szene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8" name="Image 0" descr="/sessions/intelligent-practical-bohr/mnt/outputs/viz_09_loop_kf6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4160520" cy="2606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7033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 62 — frühere Aufnahme</a:t>
            </a:r>
            <a:endParaRPr lang="en-US" sz="1050" dirty="0"/>
          </a:p>
        </p:txBody>
      </p:sp>
      <p:pic>
        <p:nvPicPr>
          <p:cNvPr id="10" name="Image 1" descr="/sessions/intelligent-practical-bohr/mnt/outputs/viz_10_loop_kf10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1051560"/>
            <a:ext cx="4160520" cy="2606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37033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 106 — spätere Aufnahme (40.8 s später)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023360" y="2240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05072"/>
          <a:ext cx="8229600" cy="877824"/>
        </p:xfrm>
        <a:graphic>
          <a:graphicData uri="http://schemas.openxmlformats.org/drawingml/2006/table">
            <a:tbl>
              <a:tblPr/>
              <a:tblGrid>
                <a:gridCol w="1920240"/>
                <a:gridCol w="1645920"/>
                <a:gridCol w="2560320"/>
                <a:gridCol w="2103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Räumliche Distanz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3D-Überlappung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Zeitlicher Abstand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Inlier-Punkte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 Frames (40.8 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Punkte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GLOBALES MAPPING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Pose-Graph-Optimierung — Globale Korrektur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023360" cy="182880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402336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Pose-Graph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99032"/>
            <a:ext cx="3840480" cy="1481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Knoten: Jede KeyFrame-Pose Ti (n ≈ 349)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Odometrie-Kanten (blau): Frame-zu-Frame-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Relationen aus der VO (n−1 Kanten)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Loop-Kanten (rot): Weit entfernte Frames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3.1 als selben Ort erkannte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(KF62≡KF106, KF56≡KF100)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828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solidFill>
            <a:srgbClr val="2D0B0B"/>
          </a:solidFill>
          <a:ln w="12700">
            <a:solidFill>
              <a:srgbClr val="2D0B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Fehlervektor auf der Lie-Algebra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6592" y="1399032"/>
            <a:ext cx="3877056" cy="594360"/>
          </a:xfrm>
          <a:prstGeom prst="rect">
            <a:avLst/>
          </a:prstGeom>
          <a:solidFill>
            <a:srgbClr val="0B17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399032"/>
            <a:ext cx="3877056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e_ij = log(T~_ij^-1 * T_i^-1 * T_j)  in R^6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36592" y="2029968"/>
            <a:ext cx="3877056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T~_ij : gemessene Relativbewegung (Odo/Loop)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Ti, Tj : gesuchte globale Posen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log(·): Lie-Logarithmus SE(3) → R^6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1325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solidFill>
            <a:srgbClr val="2D0B0B"/>
          </a:solidFill>
          <a:ln w="12700">
            <a:solidFill>
              <a:srgbClr val="2D0B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Optimierungsproblem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3364992"/>
            <a:ext cx="8083296" cy="685800"/>
          </a:xfrm>
          <a:prstGeom prst="rect">
            <a:avLst/>
          </a:prstGeom>
          <a:solidFill>
            <a:srgbClr val="0B17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364992"/>
            <a:ext cx="8083296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min_{T1..Tn}  S_(i,j in E_odom) ||e_ij||²  +  W_loop * S_(i,j in E_loop) ||e_ij||²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4078224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W_loop ≈ 20 (Loop-Kanten stärker gewichten)  ·  T0 = (I, 0) fixiert (Eichfreiheit)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54864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80560"/>
            <a:ext cx="80467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Löser: </a:t>
            </a:r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Lineare Least-Squares via Cholesky-Zerlegung. Laufzeit &lt; 1 ms für ~350 Frames.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GLOBALES MAPPING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164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— DATENSATZ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PGO-Ergebnis — Trajektorie vorher/nachher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8" name="Image 0" descr="/sessions/intelligent-practical-bohr/mnt/outputs/viz_11_p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24128"/>
            <a:ext cx="5943600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0" y="1024128"/>
            <a:ext cx="2103120" cy="1261872"/>
          </a:xfrm>
          <a:prstGeom prst="rect">
            <a:avLst/>
          </a:prstGeom>
          <a:solidFill>
            <a:srgbClr val="2D0B0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024128"/>
            <a:ext cx="210312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1024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PGO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0" y="1307592"/>
            <a:ext cx="21031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Mittlerer Fehler: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3.42 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8368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88% Reduktion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83680" y="2633472"/>
            <a:ext cx="2103120" cy="1261872"/>
          </a:xfrm>
          <a:prstGeom prst="rect">
            <a:avLst/>
          </a:prstGeom>
          <a:solidFill>
            <a:srgbClr val="0D472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0" y="2633472"/>
            <a:ext cx="210312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26334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PGO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83680" y="2916936"/>
            <a:ext cx="21031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Mittlerer Fehler: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 m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83680" y="4041648"/>
            <a:ext cx="2103120" cy="914400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29400" y="4078224"/>
            <a:ext cx="20116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Orangene Pfeile: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Korrekturbetrag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KeyFrame-Pose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(spätere = mehr)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 — Der vSLAM-Workflow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164592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115568"/>
            <a:ext cx="8302752" cy="749808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152144"/>
            <a:ext cx="21031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499616"/>
            <a:ext cx="50292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Graustufen → Gauss → Bildpyramide → FAST → Quadtree → Harris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Keypoints (x, 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164592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029968"/>
            <a:ext cx="8302752" cy="749808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2066544"/>
            <a:ext cx="21031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414016"/>
            <a:ext cx="50292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Patch + θ → 256-Bit Deskriptor → Hamming-Matching → Essential Matrix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0" y="2212848"/>
            <a:ext cx="2743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Rotation R, Translation 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44368"/>
            <a:ext cx="164592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44368"/>
            <a:ext cx="8302752" cy="749808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2980944"/>
            <a:ext cx="21031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Lokales Mapping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3328416"/>
            <a:ext cx="50292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aufbauen → Triangulation → Bundle Adjustment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0" y="3127248"/>
            <a:ext cx="2743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3D-Landmarks + opt. Posen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58768"/>
            <a:ext cx="164592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858768"/>
            <a:ext cx="8302752" cy="749808"/>
          </a:xfrm>
          <a:prstGeom prst="rect">
            <a:avLst/>
          </a:prstGeom>
          <a:solidFill>
            <a:srgbClr val="163B5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" y="3895344"/>
            <a:ext cx="21031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Globales Mapping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4242816"/>
            <a:ext cx="50292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Closure Detection → Pose Graph Optimization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0" y="4041648"/>
            <a:ext cx="2743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Konsistente 3D-Karte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ORB-SLAM3 — Echtzeit Visual SLAM für autonome Systeme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SLAM mit ORB-SLAM3</dc:title>
  <dc:subject>PptxGenJS Presentation</dc:subject>
  <dc:creator>vSLAM Team</dc:creator>
  <cp:lastModifiedBy>vSLAM Team</cp:lastModifiedBy>
  <cp:revision>1</cp:revision>
  <dcterms:created xsi:type="dcterms:W3CDTF">2026-06-14T09:43:18Z</dcterms:created>
  <dcterms:modified xsi:type="dcterms:W3CDTF">2026-06-14T09:43:18Z</dcterms:modified>
</cp:coreProperties>
</file>